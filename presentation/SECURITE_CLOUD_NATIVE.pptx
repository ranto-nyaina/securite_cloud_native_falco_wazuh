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48" y="7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848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141A3D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4206240"/>
            <a:ext cx="3657600" cy="3657600"/>
          </a:xfrm>
          <a:prstGeom prst="ellipse">
            <a:avLst/>
          </a:prstGeom>
          <a:solidFill>
            <a:srgbClr val="141A3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CYBERSÉCURITÉ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74520"/>
            <a:ext cx="7863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Sécurité Cloud-Native</a:t>
            </a:r>
            <a:endParaRPr lang="en-US" sz="42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avec Falco et Wazuh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70332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Surveiller, détecter et répondre automatiquement aux attaques dans les environnements Kubernetes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4892040"/>
            <a:ext cx="201168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50292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</a:t>
            </a:r>
            <a:r>
              <a:rPr lang="en-US" sz="12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  ·  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Année universitaire 2025-2026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052560" y="2331720"/>
            <a:ext cx="2103120" cy="2103120"/>
          </a:xfrm>
          <a:prstGeom prst="ellipse">
            <a:avLst/>
          </a:prstGeom>
          <a:solidFill>
            <a:srgbClr val="141A3D"/>
          </a:solidFill>
          <a:ln/>
        </p:spPr>
      </p:sp>
      <p:pic>
        <p:nvPicPr>
          <p:cNvPr id="10" name="Image 0" descr="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9371" y="2878531"/>
            <a:ext cx="1009498" cy="100949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Sommaire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600200"/>
            <a:ext cx="105156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1097280" y="1600200"/>
            <a:ext cx="1097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2377440" y="17373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2377440" y="21488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nouveau paysage des menaces Cloud-Native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22960" y="2834640"/>
            <a:ext cx="105156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1097280" y="2834640"/>
            <a:ext cx="1097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2377440" y="29718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des outils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2377440" y="33832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K3s, Falco et Wazuh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2960" y="4069080"/>
            <a:ext cx="105156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1097280" y="4069080"/>
            <a:ext cx="1097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2377440" y="42062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et fonctionnement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2377440" y="461772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détection à la réponse automatisée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22960" y="5303520"/>
            <a:ext cx="105156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1097280" y="5303520"/>
            <a:ext cx="1097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2377440" y="54406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2377440" y="58521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et perspectives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CLOUD-NATIVE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234440"/>
            <a:ext cx="512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l'essor du cloud et des architectures conteneurisées, les organisations font face à une nouvelle génération de menaces, de plus en plus difficiles à détecter et à contenir.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3246120"/>
            <a:ext cx="5120640" cy="2651760"/>
          </a:xfrm>
          <a:prstGeom prst="roundRect">
            <a:avLst>
              <a:gd name="adj" fmla="val 2759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3520440"/>
            <a:ext cx="4480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à ce défi, nous proposons une plateforme de surveillance et de réponse automatisée pour les environnements Cloud-Native.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0" y="123444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bu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8201" y="13818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178040" y="123444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Attaques ciblant spécifiquement les environnements Kubernetes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0" y="213055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warn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8201" y="2277953"/>
            <a:ext cx="272125" cy="27212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178040" y="2130552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Exploitation des vulnérabilités des conteneurs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400800" y="3026664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2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8201" y="3174065"/>
            <a:ext cx="272125" cy="272125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178040" y="3026664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Tentatives d'accès illégal aux services et données sensibles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400800" y="3922776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3" descr="databa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8201" y="4070177"/>
            <a:ext cx="272125" cy="272125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7178040" y="3922776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Centralisation et analyse des logs de plus en plus complexes</a:t>
            </a:r>
            <a:endParaRPr lang="en-US" sz="1300" dirty="0"/>
          </a:p>
        </p:txBody>
      </p:sp>
      <p:sp>
        <p:nvSpPr>
          <p:cNvPr id="18" name="Text 12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CLOUD-NATIVE</a:t>
            </a:r>
            <a:endParaRPr lang="en-US" sz="900" dirty="0"/>
          </a:p>
        </p:txBody>
      </p:sp>
      <p:sp>
        <p:nvSpPr>
          <p:cNvPr id="19" name="Text 13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657600"/>
            <a:ext cx="5486400" cy="5486400"/>
          </a:xfrm>
          <a:prstGeom prst="ellipse">
            <a:avLst/>
          </a:prstGeom>
          <a:solidFill>
            <a:srgbClr val="141A3D"/>
          </a:solidFill>
          <a:ln/>
        </p:spPr>
      </p:sp>
      <p:sp>
        <p:nvSpPr>
          <p:cNvPr id="3" name="Shape 1"/>
          <p:cNvSpPr/>
          <p:nvPr/>
        </p:nvSpPr>
        <p:spPr>
          <a:xfrm>
            <a:off x="5367528" y="685800"/>
            <a:ext cx="1463040" cy="1463040"/>
          </a:xfrm>
          <a:prstGeom prst="ellipse">
            <a:avLst/>
          </a:prstGeom>
          <a:solidFill>
            <a:srgbClr val="141A3D"/>
          </a:solidFill>
          <a:ln/>
        </p:spPr>
      </p:sp>
      <p:pic>
        <p:nvPicPr>
          <p:cNvPr id="4" name="Image 0" descr="ey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7918" y="1066190"/>
            <a:ext cx="702259" cy="70225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22960" y="24688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SOLUTION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1280160" y="288036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Sécurité Cloud-Native avec Falco et Wazuh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2194560" y="397764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plateforme capable de surveiller l'environnement Cloud-Native, de détecter les activités suspectes et d'automatiser la réponse aux incidents.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CLOUD-NATIVE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Présentation des outils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508760"/>
            <a:ext cx="3429000" cy="420624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034540" y="1874520"/>
            <a:ext cx="1005840" cy="10058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ser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6058" y="2136038"/>
            <a:ext cx="482803" cy="48280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51560" y="306324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K3s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188720" y="3657600"/>
            <a:ext cx="2697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légère de Kubernetes, performante et adaptée aux environnements de production.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517136" y="1508760"/>
            <a:ext cx="3429000" cy="420624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728716" y="1874520"/>
            <a:ext cx="1005840" cy="10058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rad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0234" y="2136038"/>
            <a:ext cx="482803" cy="482803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745736" y="306324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Falco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882896" y="3657600"/>
            <a:ext cx="2697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Moteur de détection comportementale : identifie en temps réel les actions suspectes à l'intérieur des pods.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8211312" y="1508760"/>
            <a:ext cx="3429000" cy="420624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9422892" y="1874520"/>
            <a:ext cx="1005840" cy="10058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2" descr="shie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84410" y="2136038"/>
            <a:ext cx="482803" cy="482803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439912" y="306324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Wazuh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8577072" y="3657600"/>
            <a:ext cx="2697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SIEM et XDR : centralise les logs, analyse les alertes et orchestre les réponses automatisées.</a:t>
            </a:r>
            <a:endParaRPr lang="en-US" sz="1250" dirty="0"/>
          </a:p>
        </p:txBody>
      </p:sp>
      <p:sp>
        <p:nvSpPr>
          <p:cNvPr id="18" name="Text 13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CLOUD-NATIVE</a:t>
            </a:r>
            <a:endParaRPr lang="en-US" sz="900" dirty="0"/>
          </a:p>
        </p:txBody>
      </p:sp>
      <p:sp>
        <p:nvSpPr>
          <p:cNvPr id="19" name="Text 1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et fonctionnement global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8755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détection à la réponse automatisée à l'incident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805940" y="2583180"/>
            <a:ext cx="8595360" cy="0"/>
          </a:xfrm>
          <a:prstGeom prst="line">
            <a:avLst/>
          </a:prstGeom>
          <a:noFill/>
          <a:ln w="381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2148840"/>
            <a:ext cx="868680" cy="8686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rad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7457" y="2374697"/>
            <a:ext cx="416966" cy="41696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22960" y="3337560"/>
            <a:ext cx="19659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32688" y="340156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932688" y="3675888"/>
            <a:ext cx="1746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Falco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932688" y="4160520"/>
            <a:ext cx="17465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Détecte l'activité anormale dans le pod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520440" y="2148840"/>
            <a:ext cx="868680" cy="8686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netwo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6297" y="2374697"/>
            <a:ext cx="416966" cy="416966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2971800" y="3337560"/>
            <a:ext cx="19659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3081528" y="340156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3081528" y="3675888"/>
            <a:ext cx="1746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Wazuh Agent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3081528" y="4160520"/>
            <a:ext cx="17465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 l'alerte et l'envoie à l'indexer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5669280" y="2148840"/>
            <a:ext cx="868680" cy="8686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2" descr="datab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5137" y="2374697"/>
            <a:ext cx="416966" cy="416966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5120640" y="3337560"/>
            <a:ext cx="19659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5230368" y="340156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6"/>
          <p:cNvSpPr txBox="1"/>
          <p:nvPr/>
        </p:nvSpPr>
        <p:spPr>
          <a:xfrm>
            <a:off x="5230368" y="3675888"/>
            <a:ext cx="1746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Wazuh Indexer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5230368" y="4160520"/>
            <a:ext cx="17465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Stocke et indexe les alertes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7818120" y="2148840"/>
            <a:ext cx="868680" cy="8686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4" name="Image 3" descr="cha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3977" y="2374697"/>
            <a:ext cx="416966" cy="416966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7269480" y="3337560"/>
            <a:ext cx="19659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7379208" y="340156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Text 21"/>
          <p:cNvSpPr txBox="1"/>
          <p:nvPr/>
        </p:nvSpPr>
        <p:spPr>
          <a:xfrm>
            <a:off x="7379208" y="3675888"/>
            <a:ext cx="1746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Wazuh Manager</a:t>
            </a:r>
            <a:endParaRPr lang="en-US" sz="1300" dirty="0"/>
          </a:p>
        </p:txBody>
      </p:sp>
      <p:sp>
        <p:nvSpPr>
          <p:cNvPr id="28" name="Text 22"/>
          <p:cNvSpPr txBox="1"/>
          <p:nvPr/>
        </p:nvSpPr>
        <p:spPr>
          <a:xfrm>
            <a:off x="7379208" y="4160520"/>
            <a:ext cx="17465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la gravité et corrèle les événements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9966960" y="2148840"/>
            <a:ext cx="868680" cy="8686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0" name="Image 4" descr="bol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92817" y="2374697"/>
            <a:ext cx="416966" cy="416966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9418320" y="3337560"/>
            <a:ext cx="19659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2" name="Text 25"/>
          <p:cNvSpPr txBox="1"/>
          <p:nvPr/>
        </p:nvSpPr>
        <p:spPr>
          <a:xfrm>
            <a:off x="9528048" y="340156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26"/>
          <p:cNvSpPr txBox="1"/>
          <p:nvPr/>
        </p:nvSpPr>
        <p:spPr>
          <a:xfrm>
            <a:off x="9528048" y="3675888"/>
            <a:ext cx="1746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Response</a:t>
            </a:r>
            <a:endParaRPr lang="en-US" sz="1300" dirty="0"/>
          </a:p>
        </p:txBody>
      </p:sp>
      <p:sp>
        <p:nvSpPr>
          <p:cNvPr id="34" name="Text 27"/>
          <p:cNvSpPr txBox="1"/>
          <p:nvPr/>
        </p:nvSpPr>
        <p:spPr>
          <a:xfrm>
            <a:off x="9528048" y="4160520"/>
            <a:ext cx="17465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Isole et recrée le pod compromis</a:t>
            </a:r>
            <a:endParaRPr lang="en-US" sz="1050" dirty="0"/>
          </a:p>
        </p:txBody>
      </p:sp>
      <p:sp>
        <p:nvSpPr>
          <p:cNvPr id="35" name="Text 28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CLOUD-NATIVE</a:t>
            </a:r>
            <a:endParaRPr lang="en-US" sz="900" dirty="0"/>
          </a:p>
        </p:txBody>
      </p:sp>
      <p:sp>
        <p:nvSpPr>
          <p:cNvPr id="36" name="Text 29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645920"/>
            <a:ext cx="4572000" cy="4572000"/>
          </a:xfrm>
          <a:prstGeom prst="ellipse">
            <a:avLst/>
          </a:prstGeom>
          <a:solidFill>
            <a:srgbClr val="141A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6858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548640" cy="548640"/>
          </a:xfrm>
          <a:prstGeom prst="ellipse">
            <a:avLst/>
          </a:prstGeom>
          <a:solidFill>
            <a:srgbClr val="141A3D"/>
          </a:solidFill>
          <a:ln/>
        </p:spPr>
      </p:sp>
      <p:pic>
        <p:nvPicPr>
          <p:cNvPr id="5" name="Image 0" descr="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606" y="2108606"/>
            <a:ext cx="263347" cy="26334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00200" y="192024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application des concepts clés de la sécurité des systèmes Cloud-Native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822960" y="3108960"/>
            <a:ext cx="548640" cy="548640"/>
          </a:xfrm>
          <a:prstGeom prst="ellipse">
            <a:avLst/>
          </a:prstGeom>
          <a:solidFill>
            <a:srgbClr val="141A3D"/>
          </a:solidFill>
          <a:ln/>
        </p:spPr>
      </p:sp>
      <p:pic>
        <p:nvPicPr>
          <p:cNvPr id="8" name="Image 1" descr="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606" y="3251606"/>
            <a:ext cx="263347" cy="263347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00200" y="306324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d'une solution robuste et évolutive, adaptée aux infrastructures actuelles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822960" y="4251960"/>
            <a:ext cx="548640" cy="548640"/>
          </a:xfrm>
          <a:prstGeom prst="ellipse">
            <a:avLst/>
          </a:prstGeom>
          <a:solidFill>
            <a:srgbClr val="141A3D"/>
          </a:solidFill>
          <a:ln/>
        </p:spPr>
      </p:sp>
      <p:pic>
        <p:nvPicPr>
          <p:cNvPr id="11" name="Image 2" descr="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606" y="4394606"/>
            <a:ext cx="263347" cy="263347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600200" y="420624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base solide pour évoluer dans le domaine exigeant de la cybersécurité opérationnelle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CLOUD-NATIVE</a:t>
            </a:r>
            <a:endParaRPr lang="en-US" sz="900" dirty="0"/>
          </a:p>
        </p:txBody>
      </p:sp>
      <p:sp>
        <p:nvSpPr>
          <p:cNvPr id="14" name="Text 9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141A3D"/>
          </a:solidFill>
          <a:ln/>
        </p:spPr>
      </p:sp>
      <p:sp>
        <p:nvSpPr>
          <p:cNvPr id="3" name="Shape 1"/>
          <p:cNvSpPr/>
          <p:nvPr/>
        </p:nvSpPr>
        <p:spPr>
          <a:xfrm>
            <a:off x="5367528" y="1463040"/>
            <a:ext cx="1463040" cy="1463040"/>
          </a:xfrm>
          <a:prstGeom prst="ellipse">
            <a:avLst/>
          </a:prstGeom>
          <a:solidFill>
            <a:srgbClr val="141A3D"/>
          </a:solidFill>
          <a:ln/>
        </p:spPr>
      </p:sp>
      <p:pic>
        <p:nvPicPr>
          <p:cNvPr id="4" name="Image 0" descr="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7918" y="1843430"/>
            <a:ext cx="702259" cy="70225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22960" y="32918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pour votre attention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41605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Cybersécurité — M1 OCC  · 2025-2026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354</Words>
  <Application>Microsoft Office PowerPoint</Application>
  <PresentationFormat>Grand écran</PresentationFormat>
  <Paragraphs>78</Paragraphs>
  <Slides>8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Ranto</cp:lastModifiedBy>
  <cp:revision>3</cp:revision>
  <dcterms:created xsi:type="dcterms:W3CDTF">2026-09-26T19:34:26Z</dcterms:created>
  <dcterms:modified xsi:type="dcterms:W3CDTF">2026-09-28T06:32:00Z</dcterms:modified>
</cp:coreProperties>
</file>